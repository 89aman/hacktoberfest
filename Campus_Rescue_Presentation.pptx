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3291840" cy="365760"/>
          </a:xfrm>
          <a:prstGeom prst="roundRect">
            <a:avLst/>
          </a:prstGeom>
          <a:solidFill>
            <a:srgbClr val="142037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🏆 HACKTOBERFEST IIT BOMBAY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CAMPUS RESCUE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  <a:latin typeface="Segoe UI"/>
              </a:defRPr>
            </a:pPr>
            <a:r>
              <a:t>Neuro-Symbolic Campus Scheduling &amp; Autonomous Disruption Repair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Bridging Google Gemma 4 Semantic Understanding with Z3 SMT Deterministic Proofs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333756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sz="1500" b="1">
                <a:solidFill>
                  <a:srgbClr val="4285F4"/>
                </a:solidFill>
                <a:latin typeface="Segoe UI"/>
              </a:defRPr>
            </a:pPr>
            <a:r>
              <a:t>Google Gemma 4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Natural language constraint compiler &amp; AST extractor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3756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Z3 SMT Solver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0-conflict proof &amp; lexicographic repair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14800"/>
            <a:ext cx="333756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2-Hour SLA Daemon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Zero administrative bottlenecks via autonomous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Live Demo • Production Architecture • Zero Hallucinations Guarantee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CAMPUS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Problem: Why Traditional &amp; AI Scheduling Fails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Real campuses face chaotic schedule disruptions, slow approvals, and unreliable AI 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1. Campus Scheduling Reality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Manual Bureaucracy: </a:t>
            </a:r>
            <a:r>
              <a:rPr sz="1050">
                <a:solidFill>
                  <a:srgbClr val="94A3B8"/>
                </a:solidFill>
              </a:rPr>
              <a:t>Paper forms, WhatsApp groups, and spreadsheets cause multi-day delays.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Equipment Clashes: </a:t>
            </a:r>
            <a:r>
              <a:rPr sz="1050">
                <a:solidFill>
                  <a:srgbClr val="94A3B8"/>
                </a:solidFill>
              </a:rPr>
              <a:t>Rooms booked without required projectors, lab kits, or computer setups.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Fragile Timetables: </a:t>
            </a:r>
            <a:r>
              <a:rPr sz="1050">
                <a:solidFill>
                  <a:srgbClr val="94A3B8"/>
                </a:solidFill>
              </a:rPr>
              <a:t>One pipe leak or timetable delay triggers cascading room collisions across the institute.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Admin Overload: </a:t>
            </a:r>
            <a:r>
              <a:rPr sz="1050">
                <a:solidFill>
                  <a:srgbClr val="94A3B8"/>
                </a:solidFill>
              </a:rPr>
              <a:t>Coordinators drown in approval backlogs while students wait in limbo.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2. The 'Chatbot Trap'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DE68A"/>
                </a:solidFill>
              </a:rPr>
              <a:t>Probabilistic Guessing: </a:t>
            </a:r>
            <a:r>
              <a:rPr sz="1050">
                <a:solidFill>
                  <a:srgbClr val="94A3B8"/>
                </a:solidFill>
              </a:rPr>
              <a:t>LLMs predict tokens, not formal discrete mathematical truths.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DE68A"/>
                </a:solidFill>
              </a:rPr>
              <a:t>Phantom Rooms: </a:t>
            </a:r>
            <a:r>
              <a:rPr sz="1050">
                <a:solidFill>
                  <a:srgbClr val="94A3B8"/>
                </a:solidFill>
              </a:rPr>
              <a:t>Generative models hallucinate non-existent rooms or double-book occupied slots.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DE68A"/>
                </a:solidFill>
              </a:rPr>
              <a:t>Silent Constraint Drift: </a:t>
            </a:r>
            <a:r>
              <a:rPr sz="1050">
                <a:solidFill>
                  <a:srgbClr val="94A3B8"/>
                </a:solidFill>
              </a:rPr>
              <a:t>Chatbots casually ignore 30-min slot limits, capacity ceilings, and teacher overlaps.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DE68A"/>
                </a:solidFill>
              </a:rPr>
              <a:t>Catastrophic Ripple: </a:t>
            </a:r>
            <a:r>
              <a:rPr sz="1050">
                <a:solidFill>
                  <a:srgbClr val="94A3B8"/>
                </a:solidFill>
              </a:rPr>
              <a:t>A single hallucinated room swap breaks 10 subsequent university lectures.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3. The Campus Rescue Standard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Neuro-Symbolic Split: </a:t>
            </a:r>
            <a:r>
              <a:rPr sz="1050">
                <a:solidFill>
                  <a:srgbClr val="94A3B8"/>
                </a:solidFill>
              </a:rPr>
              <a:t>Gemma 4 parses intent; SMT Z3 proves mathematical truth.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0 Double-Bookings: </a:t>
            </a:r>
            <a:r>
              <a:rPr sz="1050">
                <a:solidFill>
                  <a:srgbClr val="94A3B8"/>
                </a:solidFill>
              </a:rPr>
              <a:t>Satisfiability Modulo Theories guarantees mathematical collision freedom.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2-Hour SLA Guarantee: </a:t>
            </a:r>
            <a:r>
              <a:rPr sz="1050">
                <a:solidFill>
                  <a:srgbClr val="94A3B8"/>
                </a:solidFill>
              </a:rPr>
              <a:t>Auto-approves optimal slot if admin is unresponsive, eliminating stalled queues.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Truthful Unsat Cores: </a:t>
            </a:r>
            <a:r>
              <a:rPr sz="1050">
                <a:solidFill>
                  <a:srgbClr val="94A3B8"/>
                </a:solidFill>
              </a:rPr>
              <a:t>Refuses to hallucinate on impossible demands; explains exact constraint blockers.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Architecture: Neuro-Symbolic Separation of Concerns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Decoupling probabilistic natural language understanding from deterministic mathematical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1089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9436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🧠 Semantic Translation: Google Gemma 4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Ingests conversational student/admin requests in free-form English.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Role-restricted as a semantic compiler (strictly prohibited from guessing allocations).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Extracts typed Pydantic V2 AST: equipment flags, attendance, duration, slot bounds.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If ambiguous, triggers a single targeted clarification question instead of guessing.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31089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9436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⚙️ Deterministic Proof: Z3 SMT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Discrete 30-min integer time grid across campus (18 slots/day, 09:00 - 18:00).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Formulates room capacity, supervisor schedules, and equipment as hard constraints.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Lexicographic multi-objective optimization (Min displaced events ➔ Min time drift).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Zero-Trust pure-Python gate independently validates all 8 invariants before commit.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0704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THE NEURO-SYMBOLIC GUARANTEE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Gemma provides zero-friction human accessibility; Z3 provides mathematical immutability. No LLM hallucination can ever book an occupied room or bypass equipment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End-to-End Control Loop: From Request to Verified Calendar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Structured data pipeline with multi-gate validation and automated SLA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3657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/>
          <a:lstStyle/>
          <a:p>
            <a:pPr algn="ctr">
              <a:defRPr b="1" sz="1000">
                <a:solidFill>
                  <a:srgbClr val="4285F4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Intake Request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User submits natural language or structured form with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11680" cy="3657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/>
          <a:lstStyle/>
          <a:p>
            <a:pPr algn="ctr">
              <a:defRPr b="1" sz="1000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Gemma 4 Parse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Extracts AST: attendance, equipment, duration, preferences.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3657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/>
          <a:lstStyle/>
          <a:p>
            <a:pPr algn="ctr">
              <a:defRPr b="1" sz="1000">
                <a:solidFill>
                  <a:srgbClr val="A855F7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Z3 SMT Solver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Evaluates all campus slots; computes SAT solution or UNSAT 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11680" cy="3657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Zero-Trust Gate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Pure-Python engine audits 8 invariant rules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11680" cy="3657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/>
          <a:lstStyle/>
          <a:p>
            <a:pPr algn="ctr">
              <a:defRPr b="1" sz="1000">
                <a:solidFill>
                  <a:srgbClr val="F59E0B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b="1" sz="1300">
                <a:solidFill>
                  <a:srgbClr val="F8FAFC"/>
                </a:solidFill>
              </a:defRPr>
            </a:pPr>
            <a:r>
              <a:t>Admin / SLA Gate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Coordinator reviews with 2-hr timer; auto-commits if expired.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07040" cy="777240"/>
          </a:xfrm>
          <a:prstGeom prst="roundRect">
            <a:avLst/>
          </a:prstGeom>
          <a:solidFill>
            <a:srgbClr val="121B2F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⚡ System Latency: Gemma 4 parsing (~800ms) + Z3 SMT solve (&lt;50ms) + Zero-Trust audit (&lt;5ms) = Instant UI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CONSTRAINT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SMT Engine: Mathematical Rigor &amp; Multi-Objective Optimization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Formal constraints eliminate double-bookings and ensure optimal schedule repair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0292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🔒 Hard Constraints (Non-Negotiable Proofs)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Capacity Invariant: </a:t>
            </a:r>
            <a:r>
              <a:rPr sz="1000">
                <a:solidFill>
                  <a:srgbClr val="94A3B8"/>
                </a:solidFill>
              </a:rPr>
              <a:t>Capacity(Room) ≥ Attendance for all events.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Equipment Prerequisite: </a:t>
            </a:r>
            <a:r>
              <a:rPr sz="1000">
                <a:solidFill>
                  <a:srgbClr val="94A3B8"/>
                </a:solidFill>
              </a:rPr>
              <a:t>Required_Equipment ⊆ Equipment(Room).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Discrete Slot Boundaries: </a:t>
            </a:r>
            <a:r>
              <a:rPr sz="1000">
                <a:solidFill>
                  <a:srgbClr val="94A3B8"/>
                </a:solidFill>
              </a:rPr>
              <a:t>Events occupy integer chunks in [0, 18) slots (09:00 - 18:00).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Zero Overlaps (Rooms): </a:t>
            </a:r>
            <a:r>
              <a:rPr sz="1000">
                <a:solidFill>
                  <a:srgbClr val="94A3B8"/>
                </a:solidFill>
              </a:rPr>
              <a:t>Non-overlapping intervals for distinct events in the same room.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Zero Overlaps (Supervisors): </a:t>
            </a:r>
            <a:r>
              <a:rPr sz="1000">
                <a:solidFill>
                  <a:srgbClr val="94A3B8"/>
                </a:solidFill>
              </a:rPr>
              <a:t>Instructors cannot supervise multiple parallel sessions.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Buffer Windows: </a:t>
            </a:r>
            <a:r>
              <a:rPr sz="1000">
                <a:solidFill>
                  <a:srgbClr val="94A3B8"/>
                </a:solidFill>
              </a:rPr>
              <a:t>Workshops enforce mandatory 30-min setup &amp; cleanup slots.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8FAFC"/>
                </a:solidFill>
              </a:rPr>
              <a:t>• Protected Events: </a:t>
            </a:r>
            <a:r>
              <a:rPr sz="1000">
                <a:solidFill>
                  <a:srgbClr val="94A3B8"/>
                </a:solidFill>
              </a:rPr>
              <a:t>High-stakes exams marked 'PROTECTED' are immutable in room &amp;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0292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⚖️ Lexicographic Multi-Objective Optimization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• Priority 1: Minimize Displacement </a:t>
            </a:r>
            <a:r>
              <a:rPr sz="1000">
                <a:solidFill>
                  <a:srgbClr val="94A3B8"/>
                </a:solidFill>
              </a:rPr>
              <a:t>
  Minimize total existing events moved during emergency repairs: min ∑ I[event_changed].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• Priority 2: Minimize Time Drift </a:t>
            </a:r>
            <a:r>
              <a:rPr sz="1000">
                <a:solidFill>
                  <a:srgbClr val="94A3B8"/>
                </a:solidFill>
              </a:rPr>
              <a:t>
  Keep events as close to original requested time as mathematically possible: min |start - preferred_start|.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• Priority 3: Room Preference </a:t>
            </a:r>
            <a:r>
              <a:rPr sz="1000">
                <a:solidFill>
                  <a:srgbClr val="94A3B8"/>
                </a:solidFill>
              </a:rPr>
              <a:t>
  Keep events in their original or requested room before searching across buildings.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• Deterministic Reproducibility </a:t>
            </a:r>
            <a:r>
              <a:rPr sz="1000">
                <a:solidFill>
                  <a:srgbClr val="94A3B8"/>
                </a:solidFill>
              </a:rPr>
              <a:t>
  Given identical timetable inputs, Z3 returns the identical proven schedule every single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OPERATIONAL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Autonomous Governance: The 2-Hour Auto-Approval SLA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Eliminating bureaucratic bottlenecks while preserving complete administrator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0350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548640" rIns="27432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⏱️ SLA State Machine &amp; Expiry Logic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DE68A"/>
                </a:solidFill>
              </a:rPr>
              <a:t>1. Instant Proposal: </a:t>
            </a:r>
            <a:r>
              <a:rPr sz="1050">
                <a:solidFill>
                  <a:srgbClr val="94A3B8"/>
                </a:solidFill>
              </a:rPr>
              <a:t>Request received ➔ Z3 immediately verifies highest-ranked feasible slot ➔ Status becomes 'proposed'.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DE68A"/>
                </a:solidFill>
              </a:rPr>
              <a:t>2. 2-Hour SLA Timer Attached: </a:t>
            </a:r>
            <a:r>
              <a:rPr sz="1050">
                <a:solidFill>
                  <a:srgbClr val="94A3B8"/>
                </a:solidFill>
              </a:rPr>
              <a:t>Real-time countdown starts visible to requester and admin console.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DE68A"/>
                </a:solidFill>
              </a:rPr>
              <a:t>3. Manual Action Window: </a:t>
            </a:r>
            <a:r>
              <a:rPr sz="1050">
                <a:solidFill>
                  <a:srgbClr val="94A3B8"/>
                </a:solidFill>
              </a:rPr>
              <a:t>Coordinator has 120 minutes to approve, reject, or manually override the room/slot.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DE68A"/>
                </a:solidFill>
              </a:rPr>
              <a:t>4. Autonomous Commit on Expiry: </a:t>
            </a:r>
            <a:r>
              <a:rPr sz="1050">
                <a:solidFill>
                  <a:srgbClr val="94A3B8"/>
                </a:solidFill>
              </a:rPr>
              <a:t>If timer hits zero with no action: status transitions to 'auto_approved', slot is locked into active calendar.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DE68A"/>
                </a:solidFill>
              </a:rPr>
              <a:t>5. Multi-Party Audit Notification: </a:t>
            </a:r>
            <a:r>
              <a:rPr sz="1050">
                <a:solidFill>
                  <a:srgbClr val="94A3B8"/>
                </a:solidFill>
              </a:rPr>
              <a:t>Instant audit alert sent to requester, department coordinator, and facility manager.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0624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0 Hours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Unattended Scheduling Delay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No booking request is ever trapped in admin purgatory. Verified slots go live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023360"/>
            <a:ext cx="420624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100% Safe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Mathematically Pre-Verified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Auto-approvals are never unverified guesses. Z3 already proved zero-conflicts before the timer started.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TRANSPARENCY &amp;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Explainability: 'Why This Slot?' &amp; Zero-Trust Validation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Every recommendation is accompanied by human-readable proof and audited by an independent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💡 'Why This Slot?' Explanation Cards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8FAFC"/>
                </a:solidFill>
              </a:rPr>
              <a:t>• Derived Strictly from Solver Truth: </a:t>
            </a:r>
            <a:r>
              <a:rPr sz="1000">
                <a:solidFill>
                  <a:srgbClr val="94A3B8"/>
                </a:solidFill>
              </a:rPr>
              <a:t>Unlike generative LLMs that fabricate reasons, explanations are synthesized directly from Z3 model assignments.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8FAFC"/>
                </a:solidFill>
              </a:rPr>
              <a:t>• Multi-Factor Justification: </a:t>
            </a:r>
            <a:r>
              <a:rPr sz="1000">
                <a:solidFill>
                  <a:srgbClr val="94A3B8"/>
                </a:solidFill>
              </a:rPr>
              <a:t>Details capacity headroom, equipment match, supervisor availability, and clash avoidance.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8FAFC"/>
                </a:solidFill>
              </a:rPr>
              <a:t>• Example Real Output: </a:t>
            </a:r>
            <a:r>
              <a:rPr sz="1000">
                <a:solidFill>
                  <a:srgbClr val="94A3B8"/>
                </a:solidFill>
              </a:rPr>
              <a:t>'Recommended Maker Lab D at 14:00 because it seats 35 (request: 30), includes electronics kits, has no supervisor conflicts, and displaces 0 existing events.'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F8FAFC"/>
                </a:solidFill>
              </a:rPr>
              <a:t>• Student &amp; Admin Confidence: </a:t>
            </a:r>
            <a:r>
              <a:rPr sz="1000">
                <a:solidFill>
                  <a:srgbClr val="94A3B8"/>
                </a:solidFill>
              </a:rPr>
              <a:t>Users immediately see why an alternative was picked over their original preference.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🛡️ Independent Zero-Trust Validator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6EE7B7"/>
                </a:solidFill>
              </a:rPr>
              <a:t>• Independent Python Engine: </a:t>
            </a:r>
            <a:r>
              <a:rPr sz="1000">
                <a:solidFill>
                  <a:srgbClr val="94A3B8"/>
                </a:solidFill>
              </a:rPr>
              <a:t>Runs in validator.py, completely separated from Z3 solver execution.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6EE7B7"/>
                </a:solidFill>
              </a:rPr>
              <a:t>• 8 Mandatory Audit Checks: </a:t>
            </a:r>
            <a:r>
              <a:rPr sz="1000">
                <a:solidFill>
                  <a:srgbClr val="94A3B8"/>
                </a:solidFill>
              </a:rPr>
              <a:t>Must pass 8/8 invariants before schedule rendering: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6EE7B7"/>
                </a:solidFill>
              </a:rPr>
              <a:t>• 1. Event List Completeness </a:t>
            </a:r>
            <a:r>
              <a:rPr sz="1000">
                <a:solidFill>
                  <a:srgbClr val="94A3B8"/>
                </a:solidFill>
              </a:rPr>
              <a:t>No dropped or unmapped events.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6EE7B7"/>
                </a:solidFill>
              </a:rPr>
              <a:t>• 2. Valid Slot Range [0, 18) </a:t>
            </a:r>
            <a:r>
              <a:rPr sz="1000">
                <a:solidFill>
                  <a:srgbClr val="94A3B8"/>
                </a:solidFill>
              </a:rPr>
              <a:t>All bookings adhere strictly to operational hours.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6EE7B7"/>
                </a:solidFill>
              </a:rPr>
              <a:t>• 3. Capacity &amp; Equipment </a:t>
            </a:r>
            <a:r>
              <a:rPr sz="1000">
                <a:solidFill>
                  <a:srgbClr val="94A3B8"/>
                </a:solidFill>
              </a:rPr>
              <a:t>Room size and hardware requirements guaranteed.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6EE7B7"/>
                </a:solidFill>
              </a:rPr>
              <a:t>• 4. Zero Room &amp; Supervisor Overlaps </a:t>
            </a:r>
            <a:r>
              <a:rPr sz="1000">
                <a:solidFill>
                  <a:srgbClr val="94A3B8"/>
                </a:solidFill>
              </a:rPr>
              <a:t>Double-booking prevention verified in discrete time.</a:t>
            </a:r>
          </a:p>
          <a:p>
            <a:pPr>
              <a:spcBef>
                <a:spcPts val="400"/>
              </a:spcBef>
            </a:pPr>
            <a:r>
              <a:rPr b="1" sz="1050">
                <a:solidFill>
                  <a:srgbClr val="6EE7B7"/>
                </a:solidFill>
              </a:rPr>
              <a:t>• 5. Closure Windows &amp; Protected Immutability </a:t>
            </a:r>
            <a:r>
              <a:rPr sz="1000">
                <a:solidFill>
                  <a:srgbClr val="94A3B8"/>
                </a:solidFill>
              </a:rPr>
              <a:t>Never schedules in closed rooms; exams untouched.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ZERO-HALLUCINATION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Edge Cases: Mathematical Unsat Core Diagnostics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When a request is impossible, the system proves infeasibility and isolates exact mathematical blockers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⚠️ The Impossible Request Scenario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User Command:
</a:t>
            </a:r>
            <a:r>
              <a:rPr sz="1050">
                <a:solidFill>
                  <a:srgbClr val="94A3B8"/>
                </a:solidFill>
              </a:rPr>
              <a:t>'Book Robotics workshop for 45 students with electronics kits after 2 PM.'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Physical Reality:
</a:t>
            </a:r>
            <a:r>
              <a:rPr sz="1050">
                <a:solidFill>
                  <a:srgbClr val="94A3B8"/>
                </a:solidFill>
              </a:rPr>
              <a:t>Maker Lab D seats 35 (has kits). Robotics Lab A seats 50 (closed due to water leak).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Chatbot Reaction (Wrong):
</a:t>
            </a:r>
            <a:r>
              <a:rPr sz="1050">
                <a:solidFill>
                  <a:srgbClr val="94A3B8"/>
                </a:solidFill>
              </a:rPr>
              <a:t>Hallucinates: books 45 students into Lab D anyway, or invents a non-existent room.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CA5A5"/>
                </a:solidFill>
              </a:rPr>
              <a:t>Campus Rescue Reaction (Correct):
</a:t>
            </a:r>
            <a:r>
              <a:rPr sz="1050">
                <a:solidFill>
                  <a:srgbClr val="94A3B8"/>
                </a:solidFill>
              </a:rPr>
              <a:t>Z3 evaluates all possibilities and proves UNSAT (Infeasible) in &lt;20ms.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🔍 Mathematical Unsat Core Diagnosis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8B4FE"/>
                </a:solidFill>
              </a:rPr>
              <a:t>• Constraint Tracking: </a:t>
            </a:r>
            <a:r>
              <a:rPr sz="1000">
                <a:solidFill>
                  <a:srgbClr val="94A3B8"/>
                </a:solidFill>
              </a:rPr>
              <a:t>
  Every constraint is asserted with tracking tags: z3.assert_and_track().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8B4FE"/>
                </a:solidFill>
              </a:rPr>
              <a:t>• Conflicting Subset Extraction: </a:t>
            </a:r>
            <a:r>
              <a:rPr sz="1000">
                <a:solidFill>
                  <a:srgbClr val="94A3B8"/>
                </a:solidFill>
              </a:rPr>
              <a:t>
  Solver computes solver.unsat_core() to pinpoint the exact minimal contradiction.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8B4FE"/>
                </a:solidFill>
              </a:rPr>
              <a:t>• Honest Plain-Language Explanation: </a:t>
            </a:r>
            <a:r>
              <a:rPr sz="1000">
                <a:solidFill>
                  <a:srgbClr val="94A3B8"/>
                </a:solidFill>
              </a:rPr>
              <a:t>
  'Cannot schedule: Robotics Lab A is closed after 14:00, and Maker Lab D has maximum capacity 35 (requested 45).'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8B4FE"/>
                </a:solidFill>
              </a:rPr>
              <a:t>• Actionable Admin Options: </a:t>
            </a:r>
            <a:r>
              <a:rPr sz="1000">
                <a:solidFill>
                  <a:srgbClr val="94A3B8"/>
                </a:solidFill>
              </a:rPr>
              <a:t>
  1. Relax attendance limit
2. Split into 2 sections
3. Waive electronics kit requirement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APPLICATION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User Experience: Tailored Workflows for Campus Personas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Role-based views designed for fast decision making and zero administrative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b="1" sz="1400">
                <a:solidFill>
                  <a:srgbClr val="4285F4"/>
                </a:solidFill>
              </a:defRPr>
            </a:pPr>
            <a:r>
              <a:t>Student &amp; Club Leads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Tab 1: Request a Room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Plain-English natural language booking bar.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Instant verified slot recommendation card.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'Why this slot?' transparent explanation.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Live 2-Hour Auto-Approval countdown badge.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One-click calendar export (.ics).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Super Admins &amp; Coordinators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Tab 2: Admin Queue &amp; SLA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Real-time pending request approvals queue.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One-click Approve / Modify / Reject buttons.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Fast-forward 2-Hour SLA simulation button.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Audit trail log of all auto-approved slots.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Emergency room closure toggle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28600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Disruption Response Team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Tab 3: Emergency Repair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Emergency disruption simulator (pipe leaks, delays).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Lexicographic minimal-disruption SMT repair.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Side-by-side Before/After diff schedule matrix.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Zero-Trust 8/8 invariant audit confirmation.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Single-click 'Apply Repair' commit button.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Technology Stack &amp; Production Engineering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Production-grade stack built with Google Cloud AI, formal logic, and modern web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4285F4"/>
                </a:solidFill>
              </a:defRPr>
            </a:pPr>
            <a:r>
              <a:t>Google Gemma 4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gemma-4-26b-a4b-it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Semantic compiler &amp; AST extractor. Translates messy user text into typed Pydantic payloads with structured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A855F7"/>
                </a:solidFill>
              </a:defRPr>
            </a:pPr>
            <a:r>
              <a:t>Z3 SMT Solver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z3-solver v4.13+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High-performance SMT engine for theorem proving, lexicographic optimization, and Unsat core extraction in &lt;50ms.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Backend &amp; Schemas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FastAPI + Pydantic V2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Type-safe data contracts, 30-min discrete time representations, and RESTful schedule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Database &amp; Persistence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Supabase PostgreSQL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Relational persistence for rooms, bookings, schedules, and complete immutable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Frontend &amp; UI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Streamlit Dashboard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Responsive interface featuring live timetable grids, SLA countdown badges, and interactive diff visualizers.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3375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Independent Auditor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validator.py (Pure Python)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Zero-trust verification gate checking 8 invariants with 0 dependencies before any calendar update commits.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DEMO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Live Demo Plan: The 2-Minute Judging Chronology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Structured pitch sequence demonstrating every core breakthrough within 120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07040" cy="822960"/>
          </a:xfrm>
          <a:prstGeom prst="roundRect">
            <a:avLst/>
          </a:prstGeom>
          <a:solidFill>
            <a:srgbClr val="141E30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/>
            <a:r>
              <a:rPr b="1" sz="1100">
                <a:solidFill>
                  <a:srgbClr val="4285F4"/>
                </a:solidFill>
              </a:rPr>
              <a:t>0:00 – 0:25  •  </a:t>
            </a:r>
            <a:r>
              <a:rPr b="1" sz="1100">
                <a:solidFill>
                  <a:srgbClr val="F8FAFC"/>
                </a:solidFill>
              </a:rPr>
              <a:t>Act I: Natural Language &amp; Justification: </a:t>
            </a:r>
            <a:r>
              <a:rPr sz="950">
                <a:solidFill>
                  <a:srgbClr val="94A3B8"/>
                </a:solidFill>
              </a:rPr>
              <a:t>Open Tab 1. Enter: 'Need room for 30 students for 2-hour Robotics workshop with kits'. Show Gemma 4 parse + Z3 solve (&lt;50ms). Highlight 'Why this slot?' explanation &amp; 2-hr SLA timer.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07040" cy="822960"/>
          </a:xfrm>
          <a:prstGeom prst="roundRect">
            <a:avLst/>
          </a:prstGeom>
          <a:solidFill>
            <a:srgbClr val="141E30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/>
            <a:r>
              <a:rPr b="1" sz="1100">
                <a:solidFill>
                  <a:srgbClr val="F59E0B"/>
                </a:solidFill>
              </a:rPr>
              <a:t>0:25 – 0:50  •  </a:t>
            </a:r>
            <a:r>
              <a:rPr b="1" sz="1100">
                <a:solidFill>
                  <a:srgbClr val="F8FAFC"/>
                </a:solidFill>
              </a:rPr>
              <a:t>Act II: 2-Hour SLA Auto-Approval: </a:t>
            </a:r>
            <a:r>
              <a:rPr sz="950">
                <a:solidFill>
                  <a:srgbClr val="94A3B8"/>
                </a:solidFill>
              </a:rPr>
              <a:t>Switch to Tab 2. Demonstrate pending proposal in queue. Click 'Fast-Forward 2 Hours'. System automatically commits slot to active calendar and fires multi-party notification.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607040" cy="822960"/>
          </a:xfrm>
          <a:prstGeom prst="roundRect">
            <a:avLst/>
          </a:prstGeom>
          <a:solidFill>
            <a:srgbClr val="141E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/>
            <a:r>
              <a:rPr b="1" sz="1100">
                <a:solidFill>
                  <a:srgbClr val="10B981"/>
                </a:solidFill>
              </a:rPr>
              <a:t>0:50 – 1:25  •  </a:t>
            </a:r>
            <a:r>
              <a:rPr b="1" sz="1100">
                <a:solidFill>
                  <a:srgbClr val="F8FAFC"/>
                </a:solidFill>
              </a:rPr>
              <a:t>Act III: Emergency Disruption Repair: </a:t>
            </a:r>
            <a:r>
              <a:rPr sz="950">
                <a:solidFill>
                  <a:srgbClr val="94A3B8"/>
                </a:solidFill>
              </a:rPr>
              <a:t>Trigger Preset 1: 'Lab A pipe leak after 2 PM. Keep exam untouched'. Click solver. SMT shifts 1 single workshop, leaves exam protected, displaces 0 total minutes. Show 8/8 Zero-Trust badge.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07040" cy="822960"/>
          </a:xfrm>
          <a:prstGeom prst="roundRect">
            <a:avLst/>
          </a:prstGeom>
          <a:solidFill>
            <a:srgbClr val="141E30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/>
            <a:r>
              <a:rPr b="1" sz="1100">
                <a:solidFill>
                  <a:srgbClr val="A855F7"/>
                </a:solidFill>
              </a:rPr>
              <a:t>1:25 – 1:45  •  </a:t>
            </a:r>
            <a:r>
              <a:rPr b="1" sz="1100">
                <a:solidFill>
                  <a:srgbClr val="F8FAFC"/>
                </a:solidFill>
              </a:rPr>
              <a:t>Act IV: Mathematical Unsat Core: </a:t>
            </a:r>
            <a:r>
              <a:rPr sz="950">
                <a:solidFill>
                  <a:srgbClr val="94A3B8"/>
                </a:solidFill>
              </a:rPr>
              <a:t>Trigger Preset 3: 45 attendees + Lab A closed. Run solver ➔ System returns UNSAT. Highlight refusal to hallucinate; show exact conflicting constraints (Lab A closed, Lab D seats 35).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10607040" cy="822960"/>
          </a:xfrm>
          <a:prstGeom prst="roundRect">
            <a:avLst/>
          </a:prstGeom>
          <a:solidFill>
            <a:srgbClr val="141E30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/>
            <a:r>
              <a:rPr b="1" sz="1100">
                <a:solidFill>
                  <a:srgbClr val="38BDF8"/>
                </a:solidFill>
              </a:rPr>
              <a:t>1:45 – 2:00  •  </a:t>
            </a:r>
            <a:r>
              <a:rPr b="1" sz="1100">
                <a:solidFill>
                  <a:srgbClr val="F8FAFC"/>
                </a:solidFill>
              </a:rPr>
              <a:t>Act V: Conclusion &amp; Value Pitch: </a:t>
            </a:r>
            <a:r>
              <a:rPr sz="950">
                <a:solidFill>
                  <a:srgbClr val="94A3B8"/>
                </a:solidFill>
              </a:rPr>
              <a:t>Deliver final punchline: 'Most campus tools generate static tables that break on day one. Campus Rescue bridges natural language with mathematical verification for resilient campus operations.'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VISION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Impact, Campus Scalability &amp; Future Roadmap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university operations from fragile manual registers to resilient autonomous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Campus Rescue • Hacktoberfest IIT Bombay • Google Gemma 4 + Z3 SMT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📈 Immediate Campus Value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0 Double-Bookings: </a:t>
            </a:r>
            <a:r>
              <a:rPr sz="1000">
                <a:solidFill>
                  <a:srgbClr val="94A3B8"/>
                </a:solidFill>
              </a:rPr>
              <a:t>Formal mathematical guarantee eliminates room clashes entirely.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90% Faster Bookings: </a:t>
            </a:r>
            <a:r>
              <a:rPr sz="1000">
                <a:solidFill>
                  <a:srgbClr val="94A3B8"/>
                </a:solidFill>
              </a:rPr>
              <a:t>Reduces average approval cycle from 48 hours to instant proposal or 2-hour SLA.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100% Conflict Transparency: </a:t>
            </a:r>
            <a:r>
              <a:rPr sz="1000">
                <a:solidFill>
                  <a:srgbClr val="94A3B8"/>
                </a:solidFill>
              </a:rPr>
              <a:t>Zero frustration from unexplained rejections; users get mathematical facts.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6EE7B7"/>
                </a:solidFill>
              </a:rPr>
              <a:t>Autonomous Resiliency: </a:t>
            </a:r>
            <a:r>
              <a:rPr sz="1000">
                <a:solidFill>
                  <a:srgbClr val="94A3B8"/>
                </a:solidFill>
              </a:rPr>
              <a:t>Weather delays and pipe leaks resolved in under 1 second without panic.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⚡ Technical Scalability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BAE6FD"/>
                </a:solidFill>
              </a:rPr>
              <a:t>&lt;50ms Solver Speed: </a:t>
            </a:r>
            <a:r>
              <a:rPr sz="1000">
                <a:solidFill>
                  <a:srgbClr val="94A3B8"/>
                </a:solidFill>
              </a:rPr>
              <a:t>Discrete integer formulation handles 50+ rooms and 300+ events per day effortlessly.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BAE6FD"/>
                </a:solidFill>
              </a:rPr>
              <a:t>Edge &amp; Local Weights: </a:t>
            </a:r>
            <a:r>
              <a:rPr sz="1000">
                <a:solidFill>
                  <a:srgbClr val="94A3B8"/>
                </a:solidFill>
              </a:rPr>
              <a:t>Gemma 4 runs locally or via API, ensuring low operating cost and data privacy.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BAE6FD"/>
                </a:solidFill>
              </a:rPr>
              <a:t>Stateless Microservice: </a:t>
            </a:r>
            <a:r>
              <a:rPr sz="1000">
                <a:solidFill>
                  <a:srgbClr val="94A3B8"/>
                </a:solidFill>
              </a:rPr>
              <a:t>Z3 solver runs as an isolated stateless worker scalable across serverless containers.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BAE6FD"/>
                </a:solidFill>
              </a:rPr>
              <a:t>Strict Schema Safety: </a:t>
            </a:r>
            <a:r>
              <a:rPr sz="1000">
                <a:solidFill>
                  <a:srgbClr val="94A3B8"/>
                </a:solidFill>
              </a:rPr>
              <a:t>Pydantic V2 guarantees no malformed AST can ever touch the constraint solver.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480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48640" rIns="228600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🚀 Future Roadmap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8B4FE"/>
                </a:solidFill>
              </a:rPr>
              <a:t>Multi-Campus Federated Mesh: </a:t>
            </a:r>
            <a:r>
              <a:rPr sz="1000">
                <a:solidFill>
                  <a:srgbClr val="94A3B8"/>
                </a:solidFill>
              </a:rPr>
              <a:t>Coordinate shared auditoriums and inter-department facilities across institutes.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8B4FE"/>
                </a:solidFill>
              </a:rPr>
              <a:t>Energy-Aware HVAC Routing: </a:t>
            </a:r>
            <a:r>
              <a:rPr sz="1000">
                <a:solidFill>
                  <a:srgbClr val="94A3B8"/>
                </a:solidFill>
              </a:rPr>
              <a:t>Cluster events in adjacent rooms to reduce campus AC and lighting power consumption.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8B4FE"/>
                </a:solidFill>
              </a:rPr>
              <a:t>Two-Way Google/Outlook Sync: </a:t>
            </a:r>
            <a:r>
              <a:rPr sz="1000">
                <a:solidFill>
                  <a:srgbClr val="94A3B8"/>
                </a:solidFill>
              </a:rPr>
              <a:t>Bi-directional calendar syncing with real-time push notifications.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D8B4FE"/>
                </a:solidFill>
              </a:rPr>
              <a:t>Multi-Modal QR Check-in: </a:t>
            </a:r>
            <a:r>
              <a:rPr sz="1000">
                <a:solidFill>
                  <a:srgbClr val="94A3B8"/>
                </a:solidFill>
              </a:rPr>
              <a:t>Auto-release rooms if no attendee checks in within 15 minutes of event start.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