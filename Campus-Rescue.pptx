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BM Plex Sans" panose="020F0502020204030204" pitchFamily="34" charset="0"/>
      <p:regular r:id="rId12"/>
    </p:embeddedFont>
    <p:embeddedFont>
      <p:font typeface="IBM Plex Sans Bold" panose="020B0604020202020204" charset="0"/>
      <p:regular r:id="rId13"/>
    </p:embeddedFont>
    <p:embeddedFont>
      <p:font typeface="IBM Plex Sans SemiBold" panose="020F0502020204030204" pitchFamily="34" charset="0"/>
      <p:regular r:id="rId14"/>
    </p:embeddedFont>
    <p:embeddedFont>
      <p:font typeface="Sor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32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694880"/>
            <a:ext cx="723881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CAMPUS OPERATIONS · HACKATHON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783" y="3999508"/>
            <a:ext cx="668003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Campus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Rescue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783" y="6007822"/>
            <a:ext cx="723881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Scheduling that can explain its answer.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394" y="5955705"/>
            <a:ext cx="2961110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6" name="Text 4"/>
          <p:cNvSpPr/>
          <p:nvPr/>
        </p:nvSpPr>
        <p:spPr>
          <a:xfrm>
            <a:off x="8358871" y="6033527"/>
            <a:ext cx="3311740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UNDERSTAND · PROVE · COMMIT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18212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634984" y="567880"/>
            <a:ext cx="688322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PRESSURE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84" y="1028355"/>
            <a:ext cx="6451439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Campus scheduling breaks under pressure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34984" y="4553029"/>
            <a:ext cx="6451439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approvals, room clashes, and unreliable chatbot guesses turn small disruptions into campus-wide friction.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34984" y="5825331"/>
            <a:ext cx="2048816" cy="524669"/>
          </a:xfrm>
          <a:prstGeom prst="roundRect">
            <a:avLst>
              <a:gd name="adj" fmla="val 49999"/>
            </a:avLst>
          </a:prstGeom>
          <a:solidFill>
            <a:srgbClr val="F26A3D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" y="5957665"/>
            <a:ext cx="204881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CLASH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6196" y="5825331"/>
            <a:ext cx="2048915" cy="524669"/>
          </a:xfrm>
          <a:prstGeom prst="roundRect">
            <a:avLst>
              <a:gd name="adj" fmla="val 49999"/>
            </a:avLst>
          </a:prstGeom>
          <a:solidFill>
            <a:srgbClr val="0A7C78"/>
          </a:solidFill>
          <a:ln/>
        </p:spPr>
      </p:sp>
      <p:sp>
        <p:nvSpPr>
          <p:cNvPr id="9" name="Text 7"/>
          <p:cNvSpPr/>
          <p:nvPr/>
        </p:nvSpPr>
        <p:spPr>
          <a:xfrm>
            <a:off x="2836196" y="5957665"/>
            <a:ext cx="204891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QUEUE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37508" y="5825331"/>
            <a:ext cx="2048915" cy="524669"/>
          </a:xfrm>
          <a:prstGeom prst="roundRect">
            <a:avLst>
              <a:gd name="adj" fmla="val 40665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37508" y="5970365"/>
            <a:ext cx="2048915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GUESS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CORE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One system separates understanding from proof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Natural-language access with deterministic scheduling truth.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3657600"/>
            <a:ext cx="5262828" cy="3200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1142" y="3943350"/>
            <a:ext cx="1406490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7" name="Text 5"/>
          <p:cNvSpPr/>
          <p:nvPr/>
        </p:nvSpPr>
        <p:spPr>
          <a:xfrm>
            <a:off x="440619" y="4021173"/>
            <a:ext cx="1757120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1142" y="4402161"/>
            <a:ext cx="464054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Gemma 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1142" y="4981404"/>
            <a:ext cx="464054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free-form requests into a typed scheduling AST.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11142" y="5723037"/>
            <a:ext cx="4640543" cy="438348"/>
          </a:xfrm>
          <a:prstGeom prst="rect">
            <a:avLst/>
          </a:prstGeom>
          <a:solidFill>
            <a:srgbClr val="F2F4ED"/>
          </a:solidFill>
          <a:ln/>
        </p:spPr>
      </p:sp>
      <p:sp>
        <p:nvSpPr>
          <p:cNvPr id="11" name="Text 9"/>
          <p:cNvSpPr/>
          <p:nvPr/>
        </p:nvSpPr>
        <p:spPr>
          <a:xfrm>
            <a:off x="463538" y="5856323"/>
            <a:ext cx="448814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Request → typed intent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9917" y="5222875"/>
            <a:ext cx="751861" cy="69751"/>
          </a:xfrm>
          <a:prstGeom prst="roundRect">
            <a:avLst>
              <a:gd name="adj" fmla="val 49999"/>
            </a:avLst>
          </a:prstGeom>
          <a:solidFill>
            <a:srgbClr val="0A7C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928867" y="3657600"/>
            <a:ext cx="5262828" cy="32004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4" name="Shape 12"/>
          <p:cNvSpPr/>
          <p:nvPr/>
        </p:nvSpPr>
        <p:spPr>
          <a:xfrm>
            <a:off x="7233660" y="3937000"/>
            <a:ext cx="823495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15" name="Text 13"/>
          <p:cNvSpPr/>
          <p:nvPr/>
        </p:nvSpPr>
        <p:spPr>
          <a:xfrm>
            <a:off x="7363137" y="4014823"/>
            <a:ext cx="1174125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33660" y="4395811"/>
            <a:ext cx="465324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Z3 SMT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33660" y="4975054"/>
            <a:ext cx="465324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capacity, equipment, timing, and overlap constraints before anything is committed.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33660" y="5716687"/>
            <a:ext cx="4653243" cy="438348"/>
          </a:xfrm>
          <a:prstGeom prst="rect">
            <a:avLst/>
          </a:prstGeom>
          <a:solidFill>
            <a:srgbClr val="0A7C78"/>
          </a:solidFill>
          <a:ln/>
        </p:spPr>
      </p:sp>
      <p:sp>
        <p:nvSpPr>
          <p:cNvPr id="19" name="Text 17"/>
          <p:cNvSpPr/>
          <p:nvPr/>
        </p:nvSpPr>
        <p:spPr>
          <a:xfrm>
            <a:off x="7386056" y="5849973"/>
            <a:ext cx="450084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Constraints → verified truth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42480"/>
            <a:ext cx="347971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VERIFIED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41347"/>
            <a:ext cx="3174921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From messy request to verified calendar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84185" y="2899208"/>
            <a:ext cx="347971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handoff stays visible.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76678" y="91440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876678" y="1216620"/>
            <a:ext cx="2552636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8" name="Text 6"/>
          <p:cNvSpPr/>
          <p:nvPr/>
        </p:nvSpPr>
        <p:spPr>
          <a:xfrm>
            <a:off x="4876678" y="1375438"/>
            <a:ext cx="255263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Intake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76678" y="1857502"/>
            <a:ext cx="2552636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Intake the request in plain English or a structured form.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48484" y="91440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48484" y="1216620"/>
            <a:ext cx="2552636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2" name="Text 10"/>
          <p:cNvSpPr/>
          <p:nvPr/>
        </p:nvSpPr>
        <p:spPr>
          <a:xfrm>
            <a:off x="8648484" y="1375438"/>
            <a:ext cx="255263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48484" y="1857502"/>
            <a:ext cx="2552636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 attendance, equipment, duration, and preferences with Gemma 4.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76678" y="4261644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76678" y="4563864"/>
            <a:ext cx="2552636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6" name="Text 14"/>
          <p:cNvSpPr/>
          <p:nvPr/>
        </p:nvSpPr>
        <p:spPr>
          <a:xfrm>
            <a:off x="4876678" y="4722682"/>
            <a:ext cx="255263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76678" y="5204746"/>
            <a:ext cx="2552636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feasible slots with Z3, then audit every result independently.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8484" y="4261644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48484" y="4563864"/>
            <a:ext cx="2552636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20" name="Text 18"/>
          <p:cNvSpPr/>
          <p:nvPr/>
        </p:nvSpPr>
        <p:spPr>
          <a:xfrm>
            <a:off x="8648484" y="4722682"/>
            <a:ext cx="2552636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8484" y="5204746"/>
            <a:ext cx="2552636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 to an admin queue or commit automatically when the SLA expires.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SOLVER'S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solver protects what matters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258840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4040906"/>
            <a:ext cx="245361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constraints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189" y="4620149"/>
            <a:ext cx="2453618" cy="178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Room capacity, equipment fit, valid 30-minute slots, room and supervisor non-overlap, setup buffers, and protected events.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976" y="3258840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9976" y="4040906"/>
            <a:ext cx="245361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Repair objective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129976" y="4620149"/>
            <a:ext cx="2453618" cy="148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as few existing events as possible, then minimize time drift, then preserve room preference.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497873" y="2801640"/>
            <a:ext cx="4693822" cy="405636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1" name="Text 7"/>
          <p:cNvSpPr/>
          <p:nvPr/>
        </p:nvSpPr>
        <p:spPr>
          <a:xfrm>
            <a:off x="7828064" y="3115520"/>
            <a:ext cx="4363631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RESULT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28064" y="3431976"/>
            <a:ext cx="4033439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Same input.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Same answer.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828064" y="4733854"/>
            <a:ext cx="403343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Identical inputs produce a reproducible schedule.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828064" y="6209705"/>
            <a:ext cx="2173531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15" name="Text 11"/>
          <p:cNvSpPr/>
          <p:nvPr/>
        </p:nvSpPr>
        <p:spPr>
          <a:xfrm>
            <a:off x="7957542" y="6287527"/>
            <a:ext cx="2524161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AUDITABLE BY DESIGN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42480"/>
            <a:ext cx="307332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APPROVAL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41347"/>
            <a:ext cx="2743131" cy="228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2-hour SLA removes the approval bottleneck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84185" y="4551561"/>
            <a:ext cx="274313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4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120</a:t>
            </a:r>
            <a:r>
              <a:rPr lang="en-US" sz="2400" b="1" kern="100" spc="-14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 min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84185" y="5462913"/>
            <a:ext cx="274313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Enough time to review. Short enough to keep campus moving.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95688" y="101600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95688" y="1318220"/>
            <a:ext cx="1303702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9" name="Text 7"/>
          <p:cNvSpPr/>
          <p:nvPr/>
        </p:nvSpPr>
        <p:spPr>
          <a:xfrm>
            <a:off x="4495688" y="1480467"/>
            <a:ext cx="1303801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95688" y="2059710"/>
            <a:ext cx="1303801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 slot appears with a visible countdown.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71054" y="101600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71054" y="1318220"/>
            <a:ext cx="1303702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3" name="Text 11"/>
          <p:cNvSpPr/>
          <p:nvPr/>
        </p:nvSpPr>
        <p:spPr>
          <a:xfrm>
            <a:off x="7171054" y="1480467"/>
            <a:ext cx="1303801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71054" y="2059710"/>
            <a:ext cx="1303801" cy="2084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Coordinators approve, reject, or modify during the 120-minute window.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846421" y="1016000"/>
            <a:ext cx="259153" cy="215900"/>
          </a:xfrm>
          <a:prstGeom prst="rect">
            <a:avLst/>
          </a:prstGeom>
          <a:solidFill>
            <a:srgbClr val="F26A3D"/>
          </a:solidFill>
          <a:ln/>
        </p:spPr>
      </p:sp>
      <p:sp>
        <p:nvSpPr>
          <p:cNvPr id="16" name="Text 14"/>
          <p:cNvSpPr/>
          <p:nvPr/>
        </p:nvSpPr>
        <p:spPr>
          <a:xfrm>
            <a:off x="9846421" y="101600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846421" y="1318220"/>
            <a:ext cx="1303900" cy="19050"/>
          </a:xfrm>
          <a:prstGeom prst="rect">
            <a:avLst/>
          </a:prstGeom>
          <a:solidFill>
            <a:srgbClr val="F26A3D"/>
          </a:solidFill>
          <a:ln/>
        </p:spPr>
      </p:sp>
      <p:sp>
        <p:nvSpPr>
          <p:cNvPr id="18" name="Text 16"/>
          <p:cNvSpPr/>
          <p:nvPr/>
        </p:nvSpPr>
        <p:spPr>
          <a:xfrm>
            <a:off x="9846421" y="1480467"/>
            <a:ext cx="1303900" cy="80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Auto-commit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46421" y="2462042"/>
            <a:ext cx="1303900" cy="2084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no one acts, the verified slot commits and notifies stakeholders.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46421" y="4769148"/>
            <a:ext cx="1303900" cy="557609"/>
          </a:xfrm>
          <a:prstGeom prst="roundRect">
            <a:avLst>
              <a:gd name="adj" fmla="val 13009"/>
            </a:avLst>
          </a:prstGeom>
          <a:solidFill>
            <a:srgbClr val="D2F9F4"/>
          </a:solidFill>
          <a:ln/>
        </p:spPr>
      </p:sp>
      <p:sp>
        <p:nvSpPr>
          <p:cNvPr id="21" name="Text 19"/>
          <p:cNvSpPr/>
          <p:nvPr/>
        </p:nvSpPr>
        <p:spPr>
          <a:xfrm>
            <a:off x="9975898" y="4846970"/>
            <a:ext cx="1044946" cy="428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NO BOTTLENEK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EXPLAINABLE FAILURE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When the answer is no, the system shows why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443633"/>
            <a:ext cx="3454314" cy="4957167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  <a:effectLst>
            <a:outerShdw blurRad="227330" dist="74930" dir="5400000" algn="bl" rotWithShape="0">
              <a:srgbClr val="083C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2931" y="1729383"/>
            <a:ext cx="2133547" cy="343495"/>
          </a:xfrm>
          <a:prstGeom prst="roundRect">
            <a:avLst>
              <a:gd name="adj" fmla="val 21118"/>
            </a:avLst>
          </a:prstGeom>
          <a:noFill/>
          <a:ln w="6350">
            <a:solidFill>
              <a:srgbClr val="1020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2409" y="1807205"/>
            <a:ext cx="2484177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IMPOSSIBLE REQUEST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31" y="2188194"/>
            <a:ext cx="288282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 students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2931" y="2767437"/>
            <a:ext cx="288282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electronics kits after 2 PM.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931" y="3558282"/>
            <a:ext cx="2882828" cy="31651"/>
          </a:xfrm>
          <a:prstGeom prst="roundRect">
            <a:avLst>
              <a:gd name="adj" fmla="val 49998"/>
            </a:avLst>
          </a:prstGeom>
          <a:solidFill>
            <a:srgbClr val="CBD4CE"/>
          </a:solidFill>
          <a:ln/>
        </p:spPr>
      </p:sp>
      <p:sp>
        <p:nvSpPr>
          <p:cNvPr id="10" name="Text 8"/>
          <p:cNvSpPr/>
          <p:nvPr/>
        </p:nvSpPr>
        <p:spPr>
          <a:xfrm>
            <a:off x="742931" y="3797931"/>
            <a:ext cx="2882828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equipped room seats 35. The larger room is closed.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1" y="1443633"/>
            <a:ext cx="3454314" cy="4957167"/>
          </a:xfrm>
          <a:prstGeom prst="rect">
            <a:avLst/>
          </a:prstGeom>
          <a:solidFill>
            <a:srgbClr val="0A7C7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48084" y="1723033"/>
            <a:ext cx="2688860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13" name="Text 11"/>
          <p:cNvSpPr/>
          <p:nvPr/>
        </p:nvSpPr>
        <p:spPr>
          <a:xfrm>
            <a:off x="4777561" y="1800855"/>
            <a:ext cx="3039490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WRONG CHATBOT RESPONSE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8084" y="2181844"/>
            <a:ext cx="289552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 a room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8084" y="2761087"/>
            <a:ext cx="317492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 ignore a constraint.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80193" y="1443633"/>
            <a:ext cx="3454314" cy="4957167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559586" y="1723033"/>
            <a:ext cx="2627941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063" y="1800855"/>
            <a:ext cx="2978572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CAMPUS RESCUE RESPONSE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59586" y="2181844"/>
            <a:ext cx="289552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 UNSAT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59586" y="2761087"/>
            <a:ext cx="2895528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Isolate the conflicting constraints and suggest options: split the group or relax a requirement.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24602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2480"/>
            <a:ext cx="731501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THREE WAYS 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841347"/>
            <a:ext cx="690862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Three views make the product usable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26713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1940445"/>
            <a:ext cx="626094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Students and club leads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57269" y="2519688"/>
            <a:ext cx="626094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a room, see a verified recommendation, understand why it fits, and export the calendar event.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413704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7269" y="3427436"/>
            <a:ext cx="626094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Coordinators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257269" y="4006679"/>
            <a:ext cx="626094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 the queue, simulate SLA expiry, and review the audit trail.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900696"/>
            <a:ext cx="431789" cy="431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7269" y="4914428"/>
            <a:ext cx="626094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Disruption teams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257269" y="5493671"/>
            <a:ext cx="626094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 repairs, compare before/after schedules, and apply only an 8/8-audited result.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2480"/>
            <a:ext cx="5486263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841347"/>
            <a:ext cx="510527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Built for resilient campus operations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965845"/>
            <a:ext cx="5105272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2538611"/>
            <a:ext cx="5105272" cy="1020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Gemma 4, Z3 SMT Solver,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FastAPI,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React + vide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6031905"/>
            <a:ext cx="2961110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8" name="Text 6"/>
          <p:cNvSpPr/>
          <p:nvPr/>
        </p:nvSpPr>
        <p:spPr>
          <a:xfrm>
            <a:off x="739062" y="6109727"/>
            <a:ext cx="3311740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kern="100" spc="14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UNDERSTAND · PROVE · COMMIT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6838" y="547116"/>
            <a:ext cx="5105272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Near-term expansion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1119882"/>
            <a:ext cx="539736" cy="5397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76838" y="1815334"/>
            <a:ext cx="240024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Multi-campus coordination</a:t>
            </a:r>
            <a:endParaRPr lang="en-US" sz="1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870" y="1119882"/>
            <a:ext cx="539736" cy="539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81870" y="1815334"/>
            <a:ext cx="240024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Energy-aware room routing</a:t>
            </a:r>
            <a:endParaRPr lang="en-US" sz="1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2709366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6838" y="3404818"/>
            <a:ext cx="2400240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Two-way calendar sync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1870" y="2709366"/>
            <a:ext cx="539736" cy="539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1870" y="3404818"/>
            <a:ext cx="2400240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QR-based room release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476838" y="3933877"/>
            <a:ext cx="5105272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CLOSING IDEA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476838" y="4253635"/>
            <a:ext cx="5105272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Replace fragile timetable edits with explainable, mathematically verified campus operations.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Widescreen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IBM Plex Sans</vt:lpstr>
      <vt:lpstr>IBM Plex Sans SemiBold</vt:lpstr>
      <vt:lpstr>Arial</vt:lpstr>
      <vt:lpstr>Sora Bold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dewanshdeshmukh9@gmail.com</cp:lastModifiedBy>
  <cp:revision>1</cp:revision>
  <dcterms:created xsi:type="dcterms:W3CDTF">2026-10-10T11:00:35Z</dcterms:created>
  <dcterms:modified xsi:type="dcterms:W3CDTF">2026-10-10T11:01:12Z</dcterms:modified>
</cp:coreProperties>
</file>